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e6128a2675491a" /><Relationship Type="http://schemas.openxmlformats.org/officeDocument/2006/relationships/extended-properties" Target="/docProps/app.xml" Id="R1aefc61184864c07" /><Relationship Type="http://schemas.openxmlformats.org/officeDocument/2006/relationships/officeDocument" Target="/ppt/presentation.xml" Id="Re94ad8ea56b646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f8ee0803554424"/>
  </p:sldMasterIdLst>
  <p:notesMasterIdLst>
    <p:notesMasterId xmlns:r="http://schemas.openxmlformats.org/officeDocument/2006/relationships" r:id="Re5a36fcae4e443f8"/>
  </p:notesMasterIdLst>
  <p:sldIdLst>
    <p:sldId xmlns:r="http://schemas.openxmlformats.org/officeDocument/2006/relationships" id="256" r:id="Rbc4ca277a4de4091"/>
    <p:sldId xmlns:r="http://schemas.openxmlformats.org/officeDocument/2006/relationships" id="257" r:id="Rf72abee0db3d4e40"/>
    <p:sldId xmlns:r="http://schemas.openxmlformats.org/officeDocument/2006/relationships" id="258" r:id="Ra0a23ac407d34863"/>
    <p:sldId xmlns:r="http://schemas.openxmlformats.org/officeDocument/2006/relationships" id="259" r:id="R36ef462f3e3f4724"/>
    <p:sldId xmlns:r="http://schemas.openxmlformats.org/officeDocument/2006/relationships" id="260" r:id="R0494700ea15445ac"/>
    <p:sldId xmlns:r="http://schemas.openxmlformats.org/officeDocument/2006/relationships" id="261" r:id="R67378fda8d9c491e"/>
    <p:sldId xmlns:r="http://schemas.openxmlformats.org/officeDocument/2006/relationships" id="262" r:id="Rdd3ff9207527484c"/>
    <p:sldId xmlns:r="http://schemas.openxmlformats.org/officeDocument/2006/relationships" id="263" r:id="R10674158f67b41a1"/>
    <p:sldId xmlns:r="http://schemas.openxmlformats.org/officeDocument/2006/relationships" id="264" r:id="R293a294abe77422d"/>
    <p:sldId xmlns:r="http://schemas.openxmlformats.org/officeDocument/2006/relationships" id="265" r:id="Re89d57f146474a43"/>
    <p:sldId xmlns:r="http://schemas.openxmlformats.org/officeDocument/2006/relationships" id="266" r:id="Rf18bdcfbed7d4af2"/>
    <p:sldId xmlns:r="http://schemas.openxmlformats.org/officeDocument/2006/relationships" id="267" r:id="Rfc4981a94ae3400b"/>
    <p:sldId xmlns:r="http://schemas.openxmlformats.org/officeDocument/2006/relationships" id="268" r:id="Rc3d660c81ab44a4b"/>
    <p:sldId xmlns:r="http://schemas.openxmlformats.org/officeDocument/2006/relationships" id="269" r:id="Rfd3e7f774c9b496b"/>
    <p:sldId xmlns:r="http://schemas.openxmlformats.org/officeDocument/2006/relationships" id="270" r:id="R652c0e413a6a4747"/>
    <p:sldId xmlns:r="http://schemas.openxmlformats.org/officeDocument/2006/relationships" id="271" r:id="Rff866e67bf4d4465"/>
    <p:sldId xmlns:r="http://schemas.openxmlformats.org/officeDocument/2006/relationships" id="272" r:id="Rfeb825e25dfd44b9"/>
    <p:sldId xmlns:r="http://schemas.openxmlformats.org/officeDocument/2006/relationships" id="273" r:id="R3949cd28f2114969"/>
    <p:sldId xmlns:r="http://schemas.openxmlformats.org/officeDocument/2006/relationships" id="274" r:id="Rd592840ac9f94f7f"/>
    <p:sldId xmlns:r="http://schemas.openxmlformats.org/officeDocument/2006/relationships" id="275" r:id="Rf411c1f085a440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02dca9e3ba4dea" /><Relationship Type="http://schemas.openxmlformats.org/officeDocument/2006/relationships/slideMaster" Target="/ppt/slideMasters/slideMaster1.xml" Id="R15f8ee0803554424" /><Relationship Type="http://schemas.openxmlformats.org/officeDocument/2006/relationships/notesMaster" Target="/ppt/notesMasters/notesMaster1.xml" Id="Re5a36fcae4e443f8" /><Relationship Type="http://schemas.openxmlformats.org/officeDocument/2006/relationships/presProps" Target="/ppt/presProps.xml" Id="R7962e8d8836e4940" /><Relationship Type="http://schemas.openxmlformats.org/officeDocument/2006/relationships/viewProps" Target="/ppt/viewProps.xml" Id="Rba782e261d6242b8" /><Relationship Type="http://schemas.openxmlformats.org/officeDocument/2006/relationships/tableStyles" Target="/ppt/tableStyles.xml" Id="R5c4014385e8c40bc" /><Relationship Type="http://schemas.openxmlformats.org/officeDocument/2006/relationships/slide" Target="/ppt/slides/slide1.xml" Id="Rbc4ca277a4de4091" /><Relationship Type="http://schemas.openxmlformats.org/officeDocument/2006/relationships/slide" Target="/ppt/slides/slide2.xml" Id="Rf72abee0db3d4e40" /><Relationship Type="http://schemas.openxmlformats.org/officeDocument/2006/relationships/slide" Target="/ppt/slides/slide3.xml" Id="Ra0a23ac407d34863" /><Relationship Type="http://schemas.openxmlformats.org/officeDocument/2006/relationships/slide" Target="/ppt/slides/slide4.xml" Id="R36ef462f3e3f4724" /><Relationship Type="http://schemas.openxmlformats.org/officeDocument/2006/relationships/slide" Target="/ppt/slides/slide5.xml" Id="R0494700ea15445ac" /><Relationship Type="http://schemas.openxmlformats.org/officeDocument/2006/relationships/slide" Target="/ppt/slides/slide6.xml" Id="R67378fda8d9c491e" /><Relationship Type="http://schemas.openxmlformats.org/officeDocument/2006/relationships/slide" Target="/ppt/slides/slide7.xml" Id="Rdd3ff9207527484c" /><Relationship Type="http://schemas.openxmlformats.org/officeDocument/2006/relationships/slide" Target="/ppt/slides/slide8.xml" Id="R10674158f67b41a1" /><Relationship Type="http://schemas.openxmlformats.org/officeDocument/2006/relationships/slide" Target="/ppt/slides/slide9.xml" Id="R293a294abe77422d" /><Relationship Type="http://schemas.openxmlformats.org/officeDocument/2006/relationships/slide" Target="/ppt/slides/slide10.xml" Id="Re89d57f146474a43" /><Relationship Type="http://schemas.openxmlformats.org/officeDocument/2006/relationships/slide" Target="/ppt/slides/slide11.xml" Id="Rf18bdcfbed7d4af2" /><Relationship Type="http://schemas.openxmlformats.org/officeDocument/2006/relationships/slide" Target="/ppt/slides/slide12.xml" Id="Rfc4981a94ae3400b" /><Relationship Type="http://schemas.openxmlformats.org/officeDocument/2006/relationships/slide" Target="/ppt/slides/slide13.xml" Id="Rc3d660c81ab44a4b" /><Relationship Type="http://schemas.openxmlformats.org/officeDocument/2006/relationships/slide" Target="/ppt/slides/slide14.xml" Id="Rfd3e7f774c9b496b" /><Relationship Type="http://schemas.openxmlformats.org/officeDocument/2006/relationships/slide" Target="/ppt/slides/slide15.xml" Id="R652c0e413a6a4747" /><Relationship Type="http://schemas.openxmlformats.org/officeDocument/2006/relationships/slide" Target="/ppt/slides/slide16.xml" Id="Rff866e67bf4d4465" /><Relationship Type="http://schemas.openxmlformats.org/officeDocument/2006/relationships/slide" Target="/ppt/slides/slide17.xml" Id="Rfeb825e25dfd44b9" /><Relationship Type="http://schemas.openxmlformats.org/officeDocument/2006/relationships/slide" Target="/ppt/slides/slide18.xml" Id="R3949cd28f2114969" /><Relationship Type="http://schemas.openxmlformats.org/officeDocument/2006/relationships/slide" Target="/ppt/slides/slide19.xml" Id="Rd592840ac9f94f7f" /><Relationship Type="http://schemas.openxmlformats.org/officeDocument/2006/relationships/slide" Target="/ppt/slides/slide20.xml" Id="Rf411c1f085a440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2be5207d0c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f14f7e6ac44b4c" /><Relationship Type="http://schemas.openxmlformats.org/officeDocument/2006/relationships/notesMaster" Target="/ppt/notesMasters/notesMaster1.xml" Id="R8888e903fa7c4a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d75493332c43f7" /><Relationship Type="http://schemas.openxmlformats.org/officeDocument/2006/relationships/notesMaster" Target="/ppt/notesMasters/notesMaster1.xml" Id="Rb7641227bbc94b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4dce0833cb48f9" /><Relationship Type="http://schemas.openxmlformats.org/officeDocument/2006/relationships/notesMaster" Target="/ppt/notesMasters/notesMaster1.xml" Id="R4ca180c9403b4e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26d0fb057d43ee" /><Relationship Type="http://schemas.openxmlformats.org/officeDocument/2006/relationships/notesMaster" Target="/ppt/notesMasters/notesMaster1.xml" Id="Rdacbd6debcce4b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18d1c3b8a54acd" /><Relationship Type="http://schemas.openxmlformats.org/officeDocument/2006/relationships/notesMaster" Target="/ppt/notesMasters/notesMaster1.xml" Id="Ra3f370a2b58244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69fc0a6c554c53" /><Relationship Type="http://schemas.openxmlformats.org/officeDocument/2006/relationships/notesMaster" Target="/ppt/notesMasters/notesMaster1.xml" Id="R9438aae3e4c34e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8df4a99a0f4555" /><Relationship Type="http://schemas.openxmlformats.org/officeDocument/2006/relationships/notesMaster" Target="/ppt/notesMasters/notesMaster1.xml" Id="R3fd2abc9cddf48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a16c9c6d2443be" /><Relationship Type="http://schemas.openxmlformats.org/officeDocument/2006/relationships/notesMaster" Target="/ppt/notesMasters/notesMaster1.xml" Id="R7d67bb59fc4a49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1c5bc6bd8a43f4" /><Relationship Type="http://schemas.openxmlformats.org/officeDocument/2006/relationships/notesMaster" Target="/ppt/notesMasters/notesMaster1.xml" Id="Rb409c81418514a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ef0f3a13ec443c" /><Relationship Type="http://schemas.openxmlformats.org/officeDocument/2006/relationships/notesMaster" Target="/ppt/notesMasters/notesMaster1.xml" Id="Rba96bfe3ef4745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a4d830b31044ba" /><Relationship Type="http://schemas.openxmlformats.org/officeDocument/2006/relationships/notesMaster" Target="/ppt/notesMasters/notesMaster1.xml" Id="Rb1dd2918dee543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0834ac4e474d10" /><Relationship Type="http://schemas.openxmlformats.org/officeDocument/2006/relationships/notesMaster" Target="/ppt/notesMasters/notesMaster1.xml" Id="Rf63974f057994c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09d24f22374606" /><Relationship Type="http://schemas.openxmlformats.org/officeDocument/2006/relationships/notesMaster" Target="/ppt/notesMasters/notesMaster1.xml" Id="R68ca565871ac45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b2f8af58ae4037" /><Relationship Type="http://schemas.openxmlformats.org/officeDocument/2006/relationships/notesMaster" Target="/ppt/notesMasters/notesMaster1.xml" Id="R3963b02069ad41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f7070d2e8947da" /><Relationship Type="http://schemas.openxmlformats.org/officeDocument/2006/relationships/notesMaster" Target="/ppt/notesMasters/notesMaster1.xml" Id="Rbc5f47d34f314c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410ac2e3154504" /><Relationship Type="http://schemas.openxmlformats.org/officeDocument/2006/relationships/notesMaster" Target="/ppt/notesMasters/notesMaster1.xml" Id="R5acff63b61d441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5c12581e9543e9" /><Relationship Type="http://schemas.openxmlformats.org/officeDocument/2006/relationships/notesMaster" Target="/ppt/notesMasters/notesMaster1.xml" Id="Rc5ec5a2b823e4e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d0f5ea743b4025" /><Relationship Type="http://schemas.openxmlformats.org/officeDocument/2006/relationships/notesMaster" Target="/ppt/notesMasters/notesMaster1.xml" Id="R0e9932a318e64a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8ca4a137f34f69" /><Relationship Type="http://schemas.openxmlformats.org/officeDocument/2006/relationships/notesMaster" Target="/ppt/notesMasters/notesMaster1.xml" Id="Rcc18eea827db4f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a9d3098ab8f4e80" /><Relationship Type="http://schemas.openxmlformats.org/officeDocument/2006/relationships/notesMaster" Target="/ppt/notesMasters/notesMaster1.xml" Id="Rd68e5e7c1b8344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d6ad19df44e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9a5bcb737f4fce" /><Relationship Type="http://schemas.openxmlformats.org/officeDocument/2006/relationships/slideLayout" Target="/ppt/slideLayouts/slideLayout1.xml" Id="Ra677aed5c9ae40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7aed5c9ae40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60953340e46f7" /><Relationship Type="http://schemas.openxmlformats.org/officeDocument/2006/relationships/notesSlide" Target="/ppt/notesSlides/notesSlide1.xml" Id="Rbb1a979f205446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da2a6c1e24b65" /><Relationship Type="http://schemas.openxmlformats.org/officeDocument/2006/relationships/notesSlide" Target="/ppt/notesSlides/notesSlide2.xml" Id="Rc9e8d6db11754b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f5c6cd667460e" /><Relationship Type="http://schemas.openxmlformats.org/officeDocument/2006/relationships/notesSlide" Target="/ppt/notesSlides/notesSlide3.xml" Id="R0c79a9dcccaf42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e5872f7eb41ac" /><Relationship Type="http://schemas.openxmlformats.org/officeDocument/2006/relationships/notesSlide" Target="/ppt/notesSlides/notesSlide4.xml" Id="R5947657db4eb47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f6bffd0a74d43" /><Relationship Type="http://schemas.openxmlformats.org/officeDocument/2006/relationships/notesSlide" Target="/ppt/notesSlides/notesSlide5.xml" Id="R461c0dc5e83742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e9489189a482a" /><Relationship Type="http://schemas.openxmlformats.org/officeDocument/2006/relationships/notesSlide" Target="/ppt/notesSlides/notesSlide6.xml" Id="Rdb41d5eeed954d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3dadc8ad643a1" /><Relationship Type="http://schemas.openxmlformats.org/officeDocument/2006/relationships/notesSlide" Target="/ppt/notesSlides/notesSlide7.xml" Id="Rb504089799d343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ec0e86dac4851" /><Relationship Type="http://schemas.openxmlformats.org/officeDocument/2006/relationships/notesSlide" Target="/ppt/notesSlides/notesSlide8.xml" Id="Reb3c9746e59b4b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bbe11efd94afb" /><Relationship Type="http://schemas.openxmlformats.org/officeDocument/2006/relationships/notesSlide" Target="/ppt/notesSlides/notesSlide9.xml" Id="R97a9f90455b6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12ce9f1fe46d1" /><Relationship Type="http://schemas.openxmlformats.org/officeDocument/2006/relationships/notesSlide" Target="/ppt/notesSlides/notesSlide10.xml" Id="Rd4ee24d4ba2a44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2f01db60c4c42" /><Relationship Type="http://schemas.openxmlformats.org/officeDocument/2006/relationships/notesSlide" Target="/ppt/notesSlides/notesSlide11.xml" Id="R3c972ed32d5d4e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8333517774b91" /><Relationship Type="http://schemas.openxmlformats.org/officeDocument/2006/relationships/notesSlide" Target="/ppt/notesSlides/notesSlide12.xml" Id="Rb20ea46e100542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4dc96832d448c" /><Relationship Type="http://schemas.openxmlformats.org/officeDocument/2006/relationships/notesSlide" Target="/ppt/notesSlides/notesSlide13.xml" Id="R35c6647f8bbe46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02e31add7419e" /><Relationship Type="http://schemas.openxmlformats.org/officeDocument/2006/relationships/notesSlide" Target="/ppt/notesSlides/notesSlide14.xml" Id="Rdbc305ad8bbd41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8f52cdd1649f4" /><Relationship Type="http://schemas.openxmlformats.org/officeDocument/2006/relationships/notesSlide" Target="/ppt/notesSlides/notesSlide15.xml" Id="Rff00a6ee211641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96f811eba41e5" /><Relationship Type="http://schemas.openxmlformats.org/officeDocument/2006/relationships/notesSlide" Target="/ppt/notesSlides/notesSlide16.xml" Id="R5ff7cec032a246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3cc29fe324939" /><Relationship Type="http://schemas.openxmlformats.org/officeDocument/2006/relationships/notesSlide" Target="/ppt/notesSlides/notesSlide17.xml" Id="R8fd2b8c0b2be4c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30020a6e748b5" /><Relationship Type="http://schemas.openxmlformats.org/officeDocument/2006/relationships/notesSlide" Target="/ppt/notesSlides/notesSlide18.xml" Id="Rcd9fc481f91046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23c0b3cc34691" /><Relationship Type="http://schemas.openxmlformats.org/officeDocument/2006/relationships/notesSlide" Target="/ppt/notesSlides/notesSlide19.xml" Id="Rce46ed13270e4d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a52f893224a4d" /><Relationship Type="http://schemas.openxmlformats.org/officeDocument/2006/relationships/notesSlide" Target="/ppt/notesSlides/notesSlide20.xml" Id="R4212e07b15d74e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9ACDC5-38C7-4BE4-B762-E5DA3D0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020617"/>
                </a:solidFill>
                <a:latin typeface="Segoe UI"/>
                <a:ea typeface="Segoe UI"/>
                <a:cs typeface="Segoe UI"/>
              </a:rPr>
              <a:t>E-PAGER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82310-FBA0-4F4B-809D-62951BA1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382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E-Pager: from monitoring alert to accountable incident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59CC0-A1AB-44DB-A741-78E9D042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4325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 Spring Boot alerting and escalation backend that receives monitoring signals, validates trust, normalizes payloads, creates incidents, notifies the assigned user, and escalates if there is no acknowledgement.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5D45C-339E-464A-AEA7-D35DBA8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Team-meet explanation deck: purpose, architecture, flows, security, testing, mobile readiness.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4D05D-8F59-423E-A1BB-50946C34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2F90F-71C7-4DE0-A368-1BE403CF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012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20617"/>
                </a:solidFill>
                <a:latin typeface="Segoe UI"/>
                <a:ea typeface="Segoe UI"/>
                <a:cs typeface="Segoe UI"/>
              </a:rPr>
              <a:t>Vendor-independent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268A1-154C-4567-B841-6F285D49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012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20617"/>
                </a:solidFill>
                <a:latin typeface="Segoe UI"/>
                <a:ea typeface="Segoe UI"/>
                <a:cs typeface="Segoe UI"/>
              </a:rPr>
              <a:t>Escalation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4201F-023D-42E7-82D9-5070A0DE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012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20617"/>
                </a:solidFill>
                <a:latin typeface="Segoe UI"/>
                <a:ea typeface="Segoe UI"/>
                <a:cs typeface="Segoe UI"/>
              </a:rPr>
              <a:t>Push notification tracking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B1F89-CB26-45A7-AAFD-002F8BB2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012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20617"/>
                </a:solidFill>
                <a:latin typeface="Segoe UI"/>
                <a:ea typeface="Segoe UI"/>
                <a:cs typeface="Segoe UI"/>
              </a:rPr>
              <a:t>Role security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37B53-3C22-4C29-BA53-0251B83B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012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20617"/>
                </a:solidFill>
                <a:latin typeface="Segoe UI"/>
                <a:ea typeface="Segoe UI"/>
                <a:cs typeface="Segoe UI"/>
              </a:rPr>
              <a:t>Webhook HMAC</a:t>
            </a:r>
          </a:p>
        </p:txBody>
      </p:sp>
    </p:spTree>
    <p:extLst>
      <p:ext uri="{BB962C8B-B14F-4D97-AF65-F5344CB8AC3E}">
        <p14:creationId xmlns:p14="http://schemas.microsoft.com/office/powerpoint/2010/main" val="215454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002B0578-651E-4A50-A605-AF4326A0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CB22E2DD-B637-486F-9840-DD54DEDD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PROBLEM FRAMING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78B26-B4D8-4940-89B5-DDAB8E73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Why E-Pager exists: monitoring tools alert, but humans need accountable escalation.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7A2ED-C2C2-455C-AA44-DCFA3C5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3BDD4-7A47-4276-88D5-433F52E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70B41-3C0C-4F74-9806-E928E0F4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33337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44723-7C33-4B2F-9343-D3F825F8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476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0C701-9825-406A-8991-9FB89F90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Without E-Pager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CDC90-01E1-49E6-8986-2F5C4E53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067050" cy="317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Grafana/Dynatrace produce tool-specific payloads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Each integration would need custom logic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Alert delivery and user acknowledgement are hard to prove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Escalation is manual or tool-specific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Security is scattered per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500D4-32AD-4F6D-BED6-05E803BF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80CD0-B133-48C9-BA83-00846D0B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476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52BCE-9597-4AA7-BA83-6CAEB2AC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5430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With E-Pager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7FA43-DDE4-4295-B531-48DC885D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47850"/>
            <a:ext cx="3067050" cy="317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One backend receives trusted alerts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Source adapters normalize payloads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Incident lifecycle becomes consistent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Escalation matrix decides ownership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Notification logs prove sent/received/seen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E31A0-DD68-45EE-96CB-04A4F79D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28750"/>
            <a:ext cx="31432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5793D-BF5C-46DB-B3F4-239417C2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28750"/>
            <a:ext cx="476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E2125-FC1B-4CF9-B28C-ED089FE9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430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Core principle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47FC7-86FF-4DD9-A4F0-84A9DBA0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2876550" cy="317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Monitoring source can change, but incident, escalation, notification, and acknowledgement behavior should not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That is why raw Grafana/Dynatrace JSON is converted into UnifiedAlert before it touches core logic.</a:t>
            </a:r>
          </a:p>
        </p:txBody>
      </p:sp>
    </p:spTree>
    <p:extLst>
      <p:ext uri="{BB962C8B-B14F-4D97-AF65-F5344CB8AC3E}">
        <p14:creationId xmlns:p14="http://schemas.microsoft.com/office/powerpoint/2010/main" val="262350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705D72B5-A093-4573-80AA-F95B29DE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485F072D-4519-43D5-8A61-93EFA846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SYSTEM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939D1-6042-46BE-9803-1CC0194A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Architecture keeps external alert formats outside the core incident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43049-D0AD-4C9B-AA9B-49B3A8A1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CC5A1-3B8A-4B98-9260-B71571A1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1ABB1-BA34-4900-8C70-FF5A426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53693-9DD1-4197-BB70-01406F6D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Grafana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2CDBD-5E76-43B0-9149-DDA824A2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POST webhook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Raw 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1C89E-A65E-4BE0-ABDA-E2B55BD9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C97C4-0136-41C7-A9BC-E5C3BC79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Dynatrace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7BEA5-49E4-43F2-B56F-28B18B1D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Custom problem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21BB5-06A5-4EF7-89E1-214D01A0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289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60A5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5155C-A107-4BA7-8109-B68BB496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242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C9687-8355-401D-A4A3-6561AD6A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39090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Validates bearer token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Signs E-Pager HMAC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3482B-ADB7-4D35-BAB2-C7A00AC8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ADC2F-E1AC-4E7F-B553-65D0C67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Alert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319EA-08DA-49B6-A2B9-6120C049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129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Validates source HMAC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Routes by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59F31-6AAE-4229-B9A4-C81806C1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A2041-05EC-4238-84BD-937CDE06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Adapters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A0FD4-CDD0-49F7-BAEA-F2649415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47950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Grafana/Dynatrace -&gt; UnifiedAlert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6E202-18F8-4730-B9CB-0A0411F4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0FF482-CB27-49DB-B474-2F8993C5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145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Incident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5B808-E0F4-49B1-BDEC-F65892A3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1247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Create/update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TRIGGERED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EB211-A347-4F82-A130-383B1C38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3DBBE-1D7F-4055-950F-5016C0AC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Escalation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ECD83-A083-49F9-BA4D-841D53D0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1247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Assign level 1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schedule 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E9B6B-A28A-496D-B373-8259AACD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8083F-7292-4DE8-9C04-39D73D81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8125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Notification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5321C-1876-42A3-AC5C-A1877BB8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47950"/>
            <a:ext cx="1247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Create log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send push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track 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0EA05C-A4EB-49E7-B5F2-3C7FC0FE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47875"/>
            <a:ext cx="255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5B8D1E-3A36-4DC7-BB60-16CCF150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0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A832F7-1A77-4AAE-A3A8-49D023BD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621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HMAC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B4711-8877-4858-8198-93BC43DC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57575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C6B550-F731-48CF-8D24-CB55B011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419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88A1F7-D394-4716-B6A7-B228AF40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3" y="32766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0A5FA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0A5FA"/>
                </a:solidFill>
                <a:latin typeface="Segoe UI"/>
                <a:ea typeface="Segoe UI"/>
                <a:cs typeface="Segoe UI"/>
              </a:rPr>
              <a:t>token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BF7944-02AA-49D5-A380-AD1564E2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D5E3FE-A036-4F33-95C5-92917577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956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51F86D-93D0-466B-A910-EFB1F05C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003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0A5FA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0A5FA"/>
                </a:solidFill>
                <a:latin typeface="Segoe UI"/>
                <a:ea typeface="Segoe UI"/>
                <a:cs typeface="Segoe UI"/>
              </a:rPr>
              <a:t>signed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424378-12A1-49AF-B6CB-C8F89BC8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4797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ED0604-0A4A-4090-963C-078BB584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809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BC99FF-83E0-46F4-9809-22ADFF82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5292A0-FC6A-4C74-B288-CBA1188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383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FA885B-6F1F-46CC-A3EF-777CCFD9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9555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54C75E-746B-4431-B7C6-4D74F365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99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D35F9C-E5E0-4E50-A344-0D1945A4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1507B4-68F8-4035-BEF3-680C7E74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8956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DA6BB6-6734-4446-9245-336C7D96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33875"/>
            <a:ext cx="7477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PostgreSQL persists users, policies, incidents, escalation events, devices, notification logs, delivery events, webhook audit, and refresh-token hashes.</a:t>
            </a:r>
          </a:p>
        </p:txBody>
      </p:sp>
    </p:spTree>
    <p:extLst>
      <p:ext uri="{BB962C8B-B14F-4D97-AF65-F5344CB8AC3E}">
        <p14:creationId xmlns:p14="http://schemas.microsoft.com/office/powerpoint/2010/main" val="931406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523F15E-B293-4E61-A34A-88954D8D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1113407A-6218-49D2-8B09-F0A6FAD4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MODULE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B8074-D037-421C-AA0F-585F701D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Each package owns one responsibility and one failure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4FAE6-00DD-4D25-A448-164EC1D6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6C555-B225-434E-80F1-187F30CF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B9C39-E7E5-4939-8326-ACEABF5D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023110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DB354-7811-4DE1-BF26-1F57F7E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" y="1381125"/>
            <a:ext cx="483298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Positive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C2A1E-7417-428F-BCC1-C64EF535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1381125"/>
            <a:ext cx="438340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Negative scenario handled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58F80-6510-461D-9D16-10EF77EF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2667"/>
            <a:ext cx="2023110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alert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4A476-1674-4276-9B91-A3C36A67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" y="1862667"/>
            <a:ext cx="483298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Accept + normalize incoming alerts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FEA74-37C6-4FE4-BCBB-1839669B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1862667"/>
            <a:ext cx="438340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Unknown source / bad 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E4C02-5514-4131-A105-704F43FF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4208"/>
            <a:ext cx="2023110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webhook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18FC1-AFB7-4D2E-BAB6-0AB9AF83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" y="2344208"/>
            <a:ext cx="483298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HMAC verification +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C2478-C741-499B-8085-51DA24EA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2344208"/>
            <a:ext cx="438340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Missing, stale, invalid signature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4402D-A126-4759-883B-1523CB1B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5750"/>
            <a:ext cx="2023110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DC046-DAE2-4A57-ABD8-B8C683C7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" y="2825750"/>
            <a:ext cx="483298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Dynatrace token -&gt; signed E-Pager 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AFAB1-1A13-4F1F-8BDD-E0E744F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2825750"/>
            <a:ext cx="438340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Missing/invalid gateway token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4B396-8F4A-4C75-9527-D036386C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7292"/>
            <a:ext cx="2023110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incident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F22C3-2AB9-42BC-A9C9-F59EA056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" y="3307292"/>
            <a:ext cx="483298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Create, update, acknowledge, resolve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B6918-5B38-4659-BF0D-09A02FAB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3307292"/>
            <a:ext cx="438340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Duplicate or unauthorized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27B0D-A563-4AA9-9B73-38FBAD6F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8833"/>
            <a:ext cx="2023110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escalation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73502-09FF-459A-BD09-34A666F4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" y="3788833"/>
            <a:ext cx="483298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Timed assignment movement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E9898-9368-4790-90C2-238A9ABA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3788833"/>
            <a:ext cx="438340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policy / max level reached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5E25FC-939B-41A3-B68A-CF330FF1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70375"/>
            <a:ext cx="2023110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32E49-7252-4101-A04D-28EC2BAD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" y="4270375"/>
            <a:ext cx="483298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Push provider + delivery tracking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9BD7B-67A3-4492-BA97-F20E2B27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4270375"/>
            <a:ext cx="438340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device / provider failure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78FAA-9661-4DD8-9479-F9F9A0C9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51917"/>
            <a:ext cx="2023110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security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78630B-382D-49C7-8274-1B103552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" y="4751917"/>
            <a:ext cx="483298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JWT, refresh token, role access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45CE8D-07F2-4915-B291-8F75E3DE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4751917"/>
            <a:ext cx="438340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Invalid token / wrong role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47CB78-A3AC-4BE0-B12C-801A99F4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3458"/>
            <a:ext cx="2023110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project/user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E486B-E387-4D5B-B6B4-4AB51776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" y="5233458"/>
            <a:ext cx="483298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Admin configuration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6D72BA-0345-4F99-9273-8243B80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5233458"/>
            <a:ext cx="4383405" cy="4815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Invalid user/project/policy data</a:t>
            </a:r>
          </a:p>
        </p:txBody>
      </p:sp>
    </p:spTree>
    <p:extLst>
      <p:ext uri="{BB962C8B-B14F-4D97-AF65-F5344CB8AC3E}">
        <p14:creationId xmlns:p14="http://schemas.microsoft.com/office/powerpoint/2010/main" val="646962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8427210E-F228-4599-A636-935021C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E48CC39D-9B74-4ADC-9D84-81BB5617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INGESTION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235D8-748D-43A2-BB3C-23E3BEFC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Alert ingestion has two production paths and one testing simulator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C8445-4744-4D30-AEFE-8FD74686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01EC3-58E3-4D75-B514-3AFD7A1B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F7D2F-C7FC-4A2D-B4D7-9BAEEE03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20617"/>
                </a:solidFill>
                <a:latin typeface="Segoe UI"/>
                <a:ea typeface="Segoe UI"/>
                <a:cs typeface="Segoe UI"/>
              </a:rPr>
              <a:t>Direct HMAC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30310-4BD5-4410-99A0-892A4E8F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93797-154A-458D-B009-08026A35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05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Monitoring tool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8C208-D334-42B8-8AB0-A5E3E5D8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71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Tool can generate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X-EPAGER-SIGNATURE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C9B0E-AE6F-4C30-9F17-0D676F4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2D539-CC3A-4BB0-BF2A-F3122FA4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/api/alerts/{source}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6302F-84B3-49FB-B8A0-67345682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HMAC timestamp + signature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01250-2680-4BA1-B5E0-730791B5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28850"/>
            <a:ext cx="71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F657F-0838-4A89-868B-3143B557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464F8-BF1C-424A-9FEE-00A7315B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20617"/>
                </a:solidFill>
                <a:latin typeface="Segoe UI"/>
                <a:ea typeface="Segoe UI"/>
                <a:cs typeface="Segoe UI"/>
              </a:rPr>
              <a:t>Gateway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A66C9-C638-4079-BA8D-526299E5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60A5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8604B-B87C-4B66-8F95-4BF45C3E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957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Dynatrace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5220A-7006-47F6-A2DE-F514F694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624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Can send static header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cannot sign dynamic HMAC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AFFC2-48A0-4B65-9B46-E4E8D8C7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60A5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5BCFA-FE15-457F-8FDF-F12937BE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/gateway/webhooks/dynatrace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6C068-2951-4250-A030-D290DB29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624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Validate static bearer token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create HMAC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2BB3D-2F46-4425-9380-80925AFF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004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5A538-F719-4DF0-81E0-5B9818DD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95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/api/alerts/dynatrace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E020D-FDF2-439D-9ADA-2E09B2C2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624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Receives signed internal request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D9F639-13E5-4016-A310-73A81E3E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19550"/>
            <a:ext cx="71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3CD53-E067-4AA4-9F9C-2F90A32A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81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7BF19-9A60-41E7-8727-5B6A01E7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19550"/>
            <a:ext cx="71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293668-7672-497B-9459-92D71A5E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81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A46DEA-BFA0-4C21-9D04-0F587D69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20617"/>
                </a:solidFill>
                <a:latin typeface="Segoe UI"/>
                <a:ea typeface="Segoe UI"/>
                <a:cs typeface="Segoe UI"/>
              </a:rPr>
              <a:t>Simulator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96484-0952-42EA-B187-0DCAEDE0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2603BA-090D-4EA5-9747-EAA38A65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05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/api/testing/alerts/{source}/critical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FD447-7268-4D0C-98C1-BB02E0B2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Generates realistic payload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uses real AlertService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DBD5C3-0D26-413C-82ED-E0424354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508C59-0483-415B-BCCC-464C636C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050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Incident + notification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B407DB-C2D5-44F3-A745-3D673C86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717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Demo without external tool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ED3D8B-442A-4130-A4E0-4D1C84E9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28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BD6D98-911D-4BBA-8D10-BA56C964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90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73C19D-0367-44B5-BCC6-6629E499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6AAAC4-8738-4E95-91C4-90FB434C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34865D-9AEC-450A-89BE-28343297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Cross-question answer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555120-8DB1-44A1-8D00-741FDA4F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The simulator is not a production monitoring input. It is a protected admin/manager test API that calls the same internal alert pipeline to prove the behavior.</a:t>
            </a:r>
          </a:p>
        </p:txBody>
      </p:sp>
    </p:spTree>
    <p:extLst>
      <p:ext uri="{BB962C8B-B14F-4D97-AF65-F5344CB8AC3E}">
        <p14:creationId xmlns:p14="http://schemas.microsoft.com/office/powerpoint/2010/main" val="3698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75C569A3-2837-4DDE-95DB-9B376B6A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4C47A0E4-A5EC-41A3-924E-14DCE9A0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UNIFIEDALERT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D095E-A4E9-49C0-AEAE-B5AF24B5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Vendor JSON changes are absorbed at the adapter layer, not in the incident engine.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A5905-537E-405C-A568-DE5A309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14B87-01C2-41A0-A5BC-6924244F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340E4-10CA-41CC-9657-3E992FD2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B9E10-9EA0-4289-9C41-FBAFB942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Grafana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900B6-6E48-45BC-855C-06185EF2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alerts[0].fingerprint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labels.projectKey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labels.service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annotations.summary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B1624-89A8-4BA9-90BA-C2168A3B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24198-7B06-41FE-9800-D14CB8EC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Dynatrace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B5E9D-EE40-454A-A60E-91B53EF3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problemId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problemTitle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impactedEntity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tags.projectKey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221FF-CB73-4619-8102-0A0EFE20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66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3D538-057E-41CE-A595-5DEEBBEC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336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UnifiedAlert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DCF39-F939-455D-B751-834046D0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00325"/>
            <a:ext cx="24384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source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externalAlertId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projectKey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groupKey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serviceName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severity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title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description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37D29-3329-486C-BA4A-884960DB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A10E3-9AC5-49F7-A248-0BE2BB04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336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Core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2F568-4F20-4EED-88BA-A0C24962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0325"/>
            <a:ext cx="19621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IncidentService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EscalationService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NotificationService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vendor assumptions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F831C-9A70-435E-AA49-00290D47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80E12-CC7C-466A-AEBC-BDCD369B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09345-7463-44A9-80AE-B0D04D86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adapter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AA567-BDD4-48B4-9741-272B4AED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196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DEE5E-69F4-4DB4-B595-6DF911CD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DE043A-7B0B-4567-A94D-CD532AE9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576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adapter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18B3E-A60A-4733-AB0C-6561E897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242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71131-F9A3-4F63-8AAF-875B3D3F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86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721BA-AA8B-4600-92BD-FE88F990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4D399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34D399"/>
                </a:solidFill>
                <a:latin typeface="Segoe UI"/>
                <a:ea typeface="Segoe UI"/>
                <a:cs typeface="Segoe UI"/>
              </a:rPr>
              <a:t>stable contract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BDDD0A-1EF5-4C68-8CEA-E4967FF9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F6D32-1328-4E68-A6C9-CB9CA28E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4E5CDF-4FC7-454B-B367-91B67667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67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Why not raw JSON everywhere?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3ECFE-50BB-4DA9-B21F-85C24B3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72100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Every service would need vendor parsing, tests would multiply, and adding a new tool would risk breaking core incident behavior.</a:t>
            </a:r>
          </a:p>
        </p:txBody>
      </p:sp>
    </p:spTree>
    <p:extLst>
      <p:ext uri="{BB962C8B-B14F-4D97-AF65-F5344CB8AC3E}">
        <p14:creationId xmlns:p14="http://schemas.microsoft.com/office/powerpoint/2010/main" val="1405182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82DEFA94-AC87-4FB0-8403-CC68E18A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DD061B9F-0C23-4665-A3E0-5508C3B5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INCIDENT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41FF4-D490-47DF-BF96-0232927E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The incident state machine is small by design, and every transition has a guard.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FA6D2-3EB9-4EC9-B20E-1EA76BA5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99829-99FD-4058-8C7C-CDB8DD98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17D5B-6CF1-444C-9C3A-BF3B4BD4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DC2E9-912B-4885-A00C-E62C15D2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TRIGGERED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E6576-5BFE-4BA6-9166-4518A933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Created from alert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assigned to current level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eligible for escalation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9EF5E-CE76-46C3-8AB3-FD99C92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C7A19-EDB4-4761-8410-3669F89C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ACKNOWLEDGED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05245-6648-43A9-80C9-5CEEE40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527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Engineer/admin/manager accepts ownership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escalation stops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9F9D4-09D8-42A8-9D1F-E1026A48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5E2C0-71EC-4EC3-9E6D-DE8111F9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RESOLVED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42531-62D6-4203-BDEA-7720643F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527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Incident completed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more escalation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077B2-89D0-445D-9C8E-5748C97B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76404-7186-497F-9AE0-A9DEBF16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670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602FD-C96D-4DED-8213-00139F75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241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4D399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34D399"/>
                </a:solidFill>
                <a:latin typeface="Segoe UI"/>
                <a:ea typeface="Segoe UI"/>
                <a:cs typeface="Segoe UI"/>
              </a:rPr>
              <a:t>acknowledge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5EFD2-245A-4A1E-80E4-5E1D7D54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4189A-45AF-416C-900A-C0030FCB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670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C30A7-C3EA-4579-8751-C356505C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241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4D399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34D399"/>
                </a:solidFill>
                <a:latin typeface="Segoe UI"/>
                <a:ea typeface="Segoe UI"/>
                <a:cs typeface="Segoe UI"/>
              </a:rPr>
              <a:t>resolve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93227-9E09-4D62-9E9B-0D91B0D9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Scenario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E2354-BC70-41EA-B41E-2B5C7F28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39090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Positive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CF1F6-22AD-4033-B7F8-9D363A7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110" y="3905250"/>
            <a:ext cx="380619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Negative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7E749-D10F-4AFB-A9D6-CAC4FCDB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New alert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AB236-72A9-4C43-9215-6D001049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38625"/>
            <a:ext cx="39090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Create incident, set TRIGGERED, assign level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248A1-3745-4521-9E91-B251E30B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110" y="4238625"/>
            <a:ext cx="380619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Unknown source/security fail stops before incident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097665-3ACA-4D88-9FFD-D9F842AE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Duplicate active alert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D3B33-5943-4E1B-B59A-11905B1B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72000"/>
            <a:ext cx="39090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Update existing incident by source + externalAlertId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124CD-E72E-4819-99C4-529E02B2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110" y="4572000"/>
            <a:ext cx="380619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Avoids duplicate paging storm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0DA47E-5C76-4840-9063-88E90137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Engineer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3288A1-3B9A-4453-B72A-3B77A116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05375"/>
            <a:ext cx="39090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Can see assigned incident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FB40C4-2018-47AD-B378-29FFD9D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110" y="4905375"/>
            <a:ext cx="380619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403 if incident assigned to someone else</a:t>
            </a:r>
          </a:p>
        </p:txBody>
      </p:sp>
    </p:spTree>
    <p:extLst>
      <p:ext uri="{BB962C8B-B14F-4D97-AF65-F5344CB8AC3E}">
        <p14:creationId xmlns:p14="http://schemas.microsoft.com/office/powerpoint/2010/main" val="2052676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A0A1983F-B7C7-4C44-9797-2626C62C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4C444156-0FB5-4B98-9119-8C0FF96E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ESCALATION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E3659-4CD3-4C0B-9198-FF5957F7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Escalation converts policy into timed ownership changes until someone acknowledges.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01764-479D-4677-BB47-34B745B8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27AD4-B275-44BB-80BA-43DF1822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9092F-4122-4F71-B1D0-0B3C91FC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6CFA1-2F80-478E-B786-1A6C5770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Level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57EA0-0ACD-4DE6-86D0-78E93C11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Shivam Engineer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immediate assignment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DDCE4-5F55-42A4-A3D0-8278AB4C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F934B-C421-4941-BD48-7999E2A6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05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Level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CD0A5-CB16-4FC3-8DC4-9941769A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717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Ravi Lead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after 5 min if still TRIGGERED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ACDE3-57F5-43EA-A404-2AAD99A4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8717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6848E-CF05-47BA-86E0-047A83D2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05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Level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5F532-45A2-4FF2-8C39-344B0620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717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Manish Manager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after 10 more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34404-2E04-4972-A338-40770F38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76475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171D6-1B07-4A47-BABA-4B2AA234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38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B04BC-0A6B-4AEE-ACE5-AB78C60B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BBF24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FBBF24"/>
                </a:solidFill>
                <a:latin typeface="Segoe UI"/>
                <a:ea typeface="Segoe UI"/>
                <a:cs typeface="Segoe UI"/>
              </a:rPr>
              <a:t>no 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C0F11-4DAC-4C8C-B53F-C72C94E3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76475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2C370-ED46-4C36-823E-08C7410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38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E43FD-4C15-4E83-BB1D-F90D0407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87171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no 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67ACB-CD2F-4F7A-8900-64DF3B87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B3D1C-EE7A-4040-91E1-7DBFAB85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FA9E7-5E96-4A76-A928-9F7AB7CA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Positive scenario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44B15-B0B2-47C6-B2A4-FF2B4917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28765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Shivam acknowledges before nextEscalationAt.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Result: status becomes ACKNOWLEDGED; scheduled job ignores 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4F6E4-C65B-4F7B-8FE7-71A1B896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08137-29DA-44F6-A63E-1E6D2EB3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768E1-9CE3-4765-A004-FBFCE06A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9092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Negative scenario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D15725-7ACF-4891-AE4B-535A1FFD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95725"/>
            <a:ext cx="28765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one acknowledges before wait time.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Result: scheduled escalation moves to next level and records EscalationEvent.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811CF-E9EF-4968-8B36-A6D40FE2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9E55E-7178-45BA-BA0D-7367F508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7F1C85-644C-4D63-9B51-745A133D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9092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Boundary scenario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F3F4BB-AF20-4D4C-8BCA-F1D561BC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95725"/>
            <a:ext cx="28765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more levels available.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Result: incident remains TRIGGERED; event history shows max-level behavior. Future roadmap: on-call rotations.</a:t>
            </a:r>
          </a:p>
        </p:txBody>
      </p:sp>
    </p:spTree>
    <p:extLst>
      <p:ext uri="{BB962C8B-B14F-4D97-AF65-F5344CB8AC3E}">
        <p14:creationId xmlns:p14="http://schemas.microsoft.com/office/powerpoint/2010/main" val="1109344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D8910677-E80A-48C9-8DA7-7BEC572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70F83B85-E674-40B5-B8BF-40CB56CB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NOTIFICATION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728B1-B169-426D-818C-6203E06C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We track the notification lifecycle separately from the incident lifecycle.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207B7-205B-471F-9163-3E14B12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4674B-4ABF-4CF4-8291-F3786661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5F794-1748-46A6-85F0-4FE94FD6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6D5BE-E3FA-4546-8A64-82DCA1FF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QUEUED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6318D-B008-4767-B592-0D6BED6C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Log row created before provider 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5D135-9691-41C8-AB09-5D8A446F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28875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7A124-AD1A-459A-B30F-784FE7DE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907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ED067-8D02-41E7-8ABB-4A99924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60A5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E17DB-898C-4F9F-8B48-C6C5FABE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95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SENT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06CB7-9131-4342-9E55-6F340D8D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622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Provider accepted push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0AC44-3060-48D7-8788-BE58E6A5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28875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3AF36-BCCD-457E-B6E3-C2EC35F1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907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D8DEC-7F73-4BB2-BE65-5DF686A1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0C0D5-C361-43B9-B3C5-8F3B7137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RECEIVED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F36D0-9B31-4D00-AC0A-3864105E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Client app confirms device received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259FA-128D-4623-9C75-EBF4EFAD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7B323-0753-463C-A7A0-A4824EF0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907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60794-87E1-4908-91B8-C2FD7569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002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72A1B-2147-4910-9D77-437DCE22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95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SEEN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6AD28-C7B1-45E6-B858-9F427E98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622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User opened notification / incident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C69C0-C4BE-4B7B-AC30-1545BD47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228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8717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1DB9E8-4ACB-4214-85F4-67C8A6A2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528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FAILED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4FBC59-A278-4AA7-AEA7-57A222FE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219575"/>
            <a:ext cx="205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device, provider error,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or push provider failure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617A3C-A414-4901-96A4-881D39CA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67025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73A4A-4782-45E0-8E7A-9292D92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238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963EE9-53D3-400D-B001-D9FE520F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3" y="3390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87171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failure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25A928-0C86-4686-B113-5CA2CC7C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17145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Question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C7DE8B-BA52-4B17-A9CB-C6476596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71875"/>
            <a:ext cx="30480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Answer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40007-5C96-448A-B3DD-B57CAABC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0969"/>
            <a:ext cx="17145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How know sent?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1FB41A-9E7F-44F6-9AE4-B1B6CBEE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0969"/>
            <a:ext cx="30480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NotificationLog status SENT + providerMessageId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C17125-63C6-4BA3-BC36-8D4D11DF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0063"/>
            <a:ext cx="17145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How know reached?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6743AD-5C43-4EAA-B3EC-65AC9627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10063"/>
            <a:ext cx="30480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Client calls /received after push event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681FA1-B72E-4F37-8BA8-0E150901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79156"/>
            <a:ext cx="17145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How know user opened?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131CEE-2A1D-4AED-A475-159ADF2D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79156"/>
            <a:ext cx="3048000" cy="369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Client calls /seen from notification click/deep link</a:t>
            </a:r>
          </a:p>
        </p:txBody>
      </p:sp>
    </p:spTree>
    <p:extLst>
      <p:ext uri="{BB962C8B-B14F-4D97-AF65-F5344CB8AC3E}">
        <p14:creationId xmlns:p14="http://schemas.microsoft.com/office/powerpoint/2010/main" val="1612945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7538F253-3D09-4D6E-BA78-50467F3D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82E2F236-9C11-44AA-AFAE-FB04A26A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ROLE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D95C5-A90A-46CC-B8F7-689D265C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RBAC follows operational responsibility: configure, manage, respond.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C2B62-4C82-400C-AFFC-439840AB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3A449-2713-44B2-BC46-21C5D254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0415D-9C13-4275-AA20-B925A64D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95453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A0AF2-DC9B-470D-9F0A-471DA516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1428750"/>
            <a:ext cx="48863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Allowed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ACE61-D773-476A-8779-8737F39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1428750"/>
            <a:ext cx="401764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Blocked / negative scenario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10201-D363-4A12-94A3-8FF746DE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95453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EAE7B-54E3-4CE0-8954-F5D1069A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286000"/>
            <a:ext cx="48863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Manage users, projects, webhook sources, escalation policies; view incidents and notifications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16503-783A-4D76-8867-BAB6FBDD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286000"/>
            <a:ext cx="401764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Still needs valid JWT; invalid/expired token rejected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79BB0-E47F-4583-B66C-BE7EF89A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95453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8AE9B-A98E-4D13-9A76-6AAC9967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3143250"/>
            <a:ext cx="48863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Manage escalation policies and incidents; view notification logs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D48E6-9D03-403F-BB44-FB637ABF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3143250"/>
            <a:ext cx="401764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403 from admin-only users/projects/webhooks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EE762-FFEB-4879-B04B-81CFCC19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95453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ENGINEER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BDCAF-CF16-46FD-8B89-D9AD44F0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4000500"/>
            <a:ext cx="48863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View, acknowledge, resolve assigned incidents; track own notification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F787C-3300-4CCA-864F-E6EE5E36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4000500"/>
            <a:ext cx="401764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403 if accessing admin APIs or unassigned incidents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ACBBA-5386-4A0E-99A9-36A55950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B02F6-7B87-4F07-A942-CECEE537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F5E7E-CE03-4C54-8379-4B88A2AA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5305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Cross-question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E356E-B5F3-461A-8697-9C198A1B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57850"/>
            <a:ext cx="849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Engineers cannot spoof acknowledgement user IDs. For engineer actions, the backend uses the authenticated current user, not a request body user ID.</a:t>
            </a:r>
          </a:p>
        </p:txBody>
      </p:sp>
    </p:spTree>
    <p:extLst>
      <p:ext uri="{BB962C8B-B14F-4D97-AF65-F5344CB8AC3E}">
        <p14:creationId xmlns:p14="http://schemas.microsoft.com/office/powerpoint/2010/main" val="2969810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F81A8D93-9C23-46AE-A6A8-A4373CEE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5D2CE9A5-F03E-4086-879B-2FE94244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JWT HARDENING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A86F9-63B4-451C-B00C-2075A5C2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Authentication is split into short-lived access tokens and revocable refresh tokens.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6F748-636E-4C3E-9256-9A9B5DA9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806FC-5CC9-439E-988D-990A30EC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F07C8-E691-4221-91E4-192409C0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60A5F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E8B5D-B385-4623-9412-A8B8FDC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F29F3-45C6-4A92-8652-92D35AEC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email + password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BCrypt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A9F28-A8A3-4095-A370-D9B88370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8E175-9B10-419F-9C1E-8B6997E4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05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Access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A4828-BD55-44C0-A70F-F8B8E274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JJWT signed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claims: userId, email,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3EA8C-7D68-4AC4-A45D-5382683F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0A6F4-D96F-46DB-85D9-16E65BF0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05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Refresh 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931A2-63CC-4522-8681-A6A9FEAD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Opaque random token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DB stores SHA-256 hash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6D0CC-57E3-4836-92FE-F2C5B37A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E1CC8-45CA-42AB-BF1D-9D44B65D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05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Refresh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26902-5054-41D0-BCB4-6616C5F8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717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Old token revoked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new pair issued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A585A-2F88-4BBD-8534-94B919C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49123-87E5-4210-A8F4-EA010E75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0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F3B7E-1090-4CD4-8D3A-D96AA154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1AC61-2078-45B2-AF4A-25F5F9F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0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41BDE-76BF-4DA3-83F3-0521C5A3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71987-6A34-481A-902F-0D9262A4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00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317AF-861C-44A2-9BA6-45815EE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8803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Scenario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B2628-91E0-410B-A7D2-7224562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360" y="3524250"/>
            <a:ext cx="40538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Positive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5D0AB-7C2A-42F1-8F08-C84DA04F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Negative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DD3E3-ADD4-49AA-940E-D1A78E6F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803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Valid access token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CE6155-E1E1-42A5-8115-6DD7BD17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360" y="3905250"/>
            <a:ext cx="40538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Request authenticated with role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C01F59-F87D-4E46-8354-D2E45399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Wrong role returns 403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63E92B-7656-437F-B2FB-FD6F4C55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803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Refresh token used once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29766E-2982-402F-9C4A-9DEA061D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360" y="4286250"/>
            <a:ext cx="40538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Rotates and returns new token pair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2F5FB0-E4AF-416A-8A29-579EEC5E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8625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Reused/expired/revoked token returns 401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F3F146-54D1-44AF-B289-B204CAA9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803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Password changed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3C71CD-E536-416D-9D9E-7FC6180F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360" y="4667250"/>
            <a:ext cx="40538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Password hash updated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334913-3790-4D05-B21D-075FA567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All active refresh tokens revoked</a:t>
            </a:r>
          </a:p>
        </p:txBody>
      </p:sp>
    </p:spTree>
    <p:extLst>
      <p:ext uri="{BB962C8B-B14F-4D97-AF65-F5344CB8AC3E}">
        <p14:creationId xmlns:p14="http://schemas.microsoft.com/office/powerpoint/2010/main" val="7721970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A614FF90-6C44-401E-A8F2-07888ACB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CEF79E83-58BB-401D-805D-AE030CAC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WEBHOOK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E4455-85A2-474D-A705-DC3B9FE1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Public alert APIs are open at Spring Security level but protected by HMAC and source configuration.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C89F4-B9F5-4E34-9F8F-67A1628D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D5EAE-0445-473D-8CDA-1BC39308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B4E06-F08F-457C-ACCF-708478EF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243078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09BA9-7785-4149-91E2-D2350CAB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1381125"/>
            <a:ext cx="430911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Positive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D72E7-A83D-49D9-AB0E-EBC3FC6D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381125"/>
            <a:ext cx="430911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Negative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21E3F-A069-4208-8109-209DAD88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243078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Source enabled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F1A08-5AB8-4B6B-B68D-F640464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2114550"/>
            <a:ext cx="430911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WebhookSource found and enabled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9C751-4C84-4840-9718-E9A714F8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2114550"/>
            <a:ext cx="430911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401: source not configured/enabled; audit rejected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2D9E0-0CFF-4B3E-A17E-521CCE3C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243078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Timestamp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6B16B-9395-4A6F-A186-0FCDFED5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2847975"/>
            <a:ext cx="430911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Instant parse succeeds and within 5 minutes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4124D-8390-43BB-9852-08FB3646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2847975"/>
            <a:ext cx="430911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401: missing, malformed, or stale 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C2FE2-7BED-424F-B54F-57C09425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243078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Signature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BB641-28CD-4629-8A1E-284BF543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3581400"/>
            <a:ext cx="430911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HMAC_SHA256(secret, timestamp + ':' + rawBody) matches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800ED-263E-4054-B429-010F1C7A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3581400"/>
            <a:ext cx="430911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401: invalid/missing signature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26EC1-D514-4933-9442-6F4FA784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243078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47725-2472-47BA-BB5D-027E697C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4314825"/>
            <a:ext cx="430911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Accepted audit row is stored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DA6AE-7CEA-445C-945D-150D7A08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4314825"/>
            <a:ext cx="430911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Rejected audit row is stored using noRollbackFor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24DEE-D78F-4F03-83F6-DEE11690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9D6EB-7E17-40C5-89A8-467B9EBB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9AE86-6316-4426-AB02-F6A8EB01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48300"/>
            <a:ext cx="754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Why HMAC instead of a fixed token?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4A472-E0CA-42B1-A973-8C8D4690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753100"/>
            <a:ext cx="75438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 fixed token can be replayed if leaked. HMAC signs the exact body plus timestamp, so tampering or replay outside the time window fails.</a:t>
            </a:r>
          </a:p>
        </p:txBody>
      </p:sp>
    </p:spTree>
    <p:extLst>
      <p:ext uri="{BB962C8B-B14F-4D97-AF65-F5344CB8AC3E}">
        <p14:creationId xmlns:p14="http://schemas.microsoft.com/office/powerpoint/2010/main" val="16774837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0256354A-B4B3-4CB0-BA27-85C53754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744836D1-B48C-4F40-B04E-B9FA396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DYNATRACE GATEWAY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70AAB-943F-40F7-98DA-53572DBC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The gateway translates a static Dynatrace webhook into E-Pager's dynamic HMAC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1D37B-6E95-47D1-891A-19E296EB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9C90B-67BE-45EA-808A-97C4E08C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AECF4-9BEB-4CC6-8EB4-0B76A1C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9195B-C9A4-4F31-9645-B4AD319A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Dynatrace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627FA-BD30-4345-A496-9398E65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Sends custom problem notification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Authorization: Bearer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43688-616A-4EFE-9B3F-CB00F870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60A5F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EF553-BBBF-4323-9603-1BB32835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90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Gateway endpoint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10B46-15A7-411B-8B7F-EE57579E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5745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POST /gateway/webhooks/dynatrace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validate static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77268-A3C4-4C59-B752-1CA1952D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60A5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A729A-84DB-4C71-9497-11625365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907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Gateway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97983-4E1A-4056-AFC7-D7379EC0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574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generate timestamp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calculate HMAC over raw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66FAD-9D5D-4923-8019-AC064D77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057C3-467B-4D64-B273-52AB82B8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Alert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4A422-5206-43E7-8C6E-4C39F8B8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574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POST /api/alerts/dynatrace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normal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2F4F2-B6A2-4295-BE7E-87476D29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98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8FA27-9001-4293-8804-B2E318AA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B09DB-E53D-48A3-8A87-A0D1B139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288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0A5FA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0A5FA"/>
                </a:solidFill>
                <a:latin typeface="Segoe UI"/>
                <a:ea typeface="Segoe UI"/>
                <a:cs typeface="Segoe UI"/>
              </a:rPr>
              <a:t>bearer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D26BA-B1B9-4DD9-9C10-776C49B1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CAE2D-75C7-499C-86F3-127D9D81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571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1DB25-2324-4C66-BD78-1553F8FF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24288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0A5FA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0A5FA"/>
                </a:solidFill>
                <a:latin typeface="Segoe UI"/>
                <a:ea typeface="Segoe UI"/>
                <a:cs typeface="Segoe UI"/>
              </a:rPr>
              <a:t>raw 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D6C91-9006-42A3-84CF-6CCA5F2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09850"/>
            <a:ext cx="71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7C739-8C38-4D94-8678-F3A5BC7A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385AA7-13F1-442A-833A-FF3D408D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4288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HMAC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EE7BD-4BCF-42F6-A33B-A5088445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346329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Scenario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C2A41-8823-4628-ACF0-C17245C5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4000500"/>
            <a:ext cx="61569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003D8D-1613-4BBF-B423-478B2F47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46329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Missing/invalid gateway token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E4048-9A2F-4ACD-AC59-27DB9CD5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4333875"/>
            <a:ext cx="61569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401 before forwarding; no incident created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ADA98C-E10A-4186-83C1-02C77DB8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346329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Valid gateway token + valid payload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859DF-2D98-4150-A8A0-6A05112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4667250"/>
            <a:ext cx="61569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Gateway signs payload; alert API validates; incident + notification created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72FA63-DD7D-42E1-941F-66733B74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346329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Gateway secret mismatched with webhook source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475990-F7B5-4832-BF5D-B23E1EB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5000625"/>
            <a:ext cx="61569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Forward happens but alert API rejects HMAC; audit shows rejection</a:t>
            </a:r>
          </a:p>
        </p:txBody>
      </p:sp>
    </p:spTree>
    <p:extLst>
      <p:ext uri="{BB962C8B-B14F-4D97-AF65-F5344CB8AC3E}">
        <p14:creationId xmlns:p14="http://schemas.microsoft.com/office/powerpoint/2010/main" val="516730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BA4A5CA0-4D5D-4043-A62C-7FC3650E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EF546F4B-2F08-4163-A4EE-9337C1AF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SIMULATION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B69C0-22E5-44E3-9E56-B638BF7B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The simulator is a safe demo trigger that exercises the real pipeline without external tooling.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3D6EB-4BCD-4582-ACC9-D4B569CC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9BC42-3319-4EA0-AB4B-7C95E4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FDC47-D1DC-466B-B189-FCB5C2F7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4B2CE-7CD0-421A-BC49-63C93283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POST /api/testing/alerts/dynatrace/critical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AC32F-98EB-419C-8FC1-DBB6B2E6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ADMIN or MANAGER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creates realistic Dynatrace 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B0443-FF00-48CA-AB31-18FC88B5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184EA-BCAA-4CF7-99C1-728077AC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POST /api/testing/alerts/grafana/critical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36357-E219-43B7-A0CD-AF96EA90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ADMIN or MANAGER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creates realistic Grafana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99F9E-2EBA-43CC-81BD-B73BC57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19375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A9FC7-1916-4C10-9DDA-A30F1B67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AlertService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69177-7319-417C-9F35-7CCEB32D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81325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Uses real source adapter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duplicated incident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361CC-3A73-4788-B8E1-C3DF2702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19375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4D48B-105A-4DEA-9110-62BC99B7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146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Incident + notification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A9468-F99E-4D8F-A583-37D80EB5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81325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TRIGGERED incident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Shivam assigned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push log created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D0151-5C40-48EA-A1F3-6525BD05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71725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B5826-9A92-444C-B6FA-D618C078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05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0060F-562A-4CE1-8EE9-22F0315E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00475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D18C7-8C15-42E5-A0F7-05F0A649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90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4CC8C-D278-4114-86C6-612D08F2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17819-0279-4C8E-9558-1966FB8B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C17A7-C514-440A-8EB2-2A7B8CFC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80BE5-D9FA-40BC-A38E-98D4A0C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DC496-B101-4E00-A75E-C27DD03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67300"/>
            <a:ext cx="754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Cross-question answer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173E4-CF92-4FA1-9EC2-5134101F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721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This endpoint mocks the monitoring tool's POST, but still uses the real adapter, incident, escalation, and notification services. It should stay protected and should not be exposed as a public production alert endpoint.</a:t>
            </a:r>
          </a:p>
        </p:txBody>
      </p:sp>
    </p:spTree>
    <p:extLst>
      <p:ext uri="{BB962C8B-B14F-4D97-AF65-F5344CB8AC3E}">
        <p14:creationId xmlns:p14="http://schemas.microsoft.com/office/powerpoint/2010/main" val="141844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A7D39EEF-A7C7-4750-999C-A3849107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FFE8A914-3EA6-4B56-A6EE-A8C15EB0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MANUAL SWAGGER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586C8-0BEE-4E12-BA7B-AF0511D1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 reliable demo follows the same path every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F1B65-B91D-4661-9D3C-F452911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8943E-8A6A-4AC8-90A1-0500E91A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E9398-816A-4230-AB4D-AB8F314B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Step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DCD38-431A-4709-9FAE-9D27527B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81125"/>
            <a:ext cx="521208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67AB6-4AC6-4694-8960-8BE08AAD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1381125"/>
            <a:ext cx="456057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Expected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96AAD-1249-46F0-8447-F0AA252D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3094"/>
            <a:ext cx="10858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19965-30A1-4C3F-8A40-2491064B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93094"/>
            <a:ext cx="521208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POST /api/auth/login as 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3A469-5F69-4E6D-929A-BE325A9F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1893094"/>
            <a:ext cx="456057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accessToken + refreshToken returned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07A05-1C25-4E8D-9DF3-52ED8926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5063"/>
            <a:ext cx="10858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4A7D0-DABB-41FF-B91F-A801F919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05063"/>
            <a:ext cx="521208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Swagger Authorize with Bearer accessToken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82152-62CB-41BD-A3F5-26AF872E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2405063"/>
            <a:ext cx="456057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protected endpoints become callable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66973-95D3-438B-BB52-844DAE1E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7031"/>
            <a:ext cx="10858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B7B7E-E7E8-450D-B77D-51E4090B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17031"/>
            <a:ext cx="521208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GET /api/users and /api/escalation-policies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3A920-B942-42C4-96B2-5AFA7040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2917031"/>
            <a:ext cx="456057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seeded users and matrix 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49932-5BD5-4376-8D0F-BD5B2D46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858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376D1-D7EB-4AC5-9D45-BA2FC2B8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521208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POST /api/testing/alerts/dynatrace/critical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A0985-56C1-4D54-AA65-3CCF7172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3429000"/>
            <a:ext cx="456057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incident returned as TRIGGERED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DEF35-1233-4A43-97AC-44B21096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0969"/>
            <a:ext cx="10858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9EA95-17EA-4E4C-85CB-39381FB5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40969"/>
            <a:ext cx="521208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GET /api/notifications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4D798-0A6E-4FD1-810C-734F5F5B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3940969"/>
            <a:ext cx="456057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notification log exists for incident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00BE5-34BA-4467-BB87-B4B3277C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2938"/>
            <a:ext cx="10858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9FCD9-0158-4D33-82B6-5DB42448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52938"/>
            <a:ext cx="521208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POST /received then /seen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3A38F8-6229-4A88-AE7E-5715EF04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4452938"/>
            <a:ext cx="456057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delivery timeline proves reached/opened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04E83-128B-48BD-AD51-0D65B761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4906"/>
            <a:ext cx="10858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6E12B5-D744-4B44-964F-C55E44E6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64906"/>
            <a:ext cx="521208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POST /acknowledge then /resolve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F79501-8035-41AD-8D37-21B35566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4964906"/>
            <a:ext cx="456057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incident lifecycle completes</a:t>
            </a:r>
          </a:p>
        </p:txBody>
      </p:sp>
    </p:spTree>
    <p:extLst>
      <p:ext uri="{BB962C8B-B14F-4D97-AF65-F5344CB8AC3E}">
        <p14:creationId xmlns:p14="http://schemas.microsoft.com/office/powerpoint/2010/main" val="9065656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C2CB6007-1284-4AD9-A726-891E66E1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8452DC67-14F5-46C1-8FA4-E76F700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AUTOMATED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3BA8C-7AB9-444A-B251-09FB5B5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Current tests already cover role security, auth hardening, simulator behavior, and rejected webhook audit.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96F21-E840-4237-8127-86C3FBA7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BC26F-9BB1-4CCD-BBA3-1502DE5E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6E69F-D26D-4920-ACD6-EE3F127E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97F69-5164-4554-B6B0-75178796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81F19-D5CC-42DA-9577-83B85BF0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Implemented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95712-9D78-4AE1-85A9-949494C0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8765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Admin/manager/engineer access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Engineer assigned incident rules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Protected endpoint blocking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Gateway missing-token rejection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User creation password validation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Refresh-token rotation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Password-change revocation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Rejected webhook audit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Simulator creates incident + notification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2BBEC-A594-4764-A6B5-6307D3F8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A277C-6C8C-405E-BB07-44EA0E5A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E9750-DCFA-41C3-AF8F-B6076F45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430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Next high-value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7FBF0-BCFF-4F5A-B319-B03D2CF6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47850"/>
            <a:ext cx="28765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Valid Grafana HMAC creates incident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Valid Dynatrace HMAC creates incident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Expired timestamp rejected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Disabled source rejected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Adapter mapping unit tests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Escalation scheduler tests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FCM provider mocked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69118-04E6-4F81-A68A-DEEA8ED0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80286-0F8E-42FF-90EF-9EBDB7BA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C8818-BA3F-4290-8A5D-E43E3195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430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Why PostgreSQL integration tests?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BF578-25FC-4926-BA02-109A6B9D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47850"/>
            <a:ext cx="28765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Flyway schema validated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JPA mapping is real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token/audit/notification persistence verified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behavior closer to production than H2</a:t>
            </a:r>
          </a:p>
          <a:p xmlns:a="http://schemas.openxmlformats.org/drawingml/2006/main">
            <a:pPr algn="l">
              <a:defRPr sz="975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- catches transaction rollback bugs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4FDD6-F6FB-4406-B0EF-EC99518D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95875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Latest verified state: 10 integration tests passed after adding the alert simulation API.</a:t>
            </a:r>
          </a:p>
        </p:txBody>
      </p:sp>
    </p:spTree>
    <p:extLst>
      <p:ext uri="{BB962C8B-B14F-4D97-AF65-F5344CB8AC3E}">
        <p14:creationId xmlns:p14="http://schemas.microsoft.com/office/powerpoint/2010/main" val="9420178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698267C0-21B1-4013-A590-324660F0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119BCCBF-407C-4686-8E00-A92E5ACD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REAL PUSH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71AFE-7DEF-4414-85D0-9148827B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To notify real phones or browsers, the backend needs real client device tokens.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9A44A-32AE-4086-B24F-8B01CF44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C4673-CD61-4834-A167-34A38682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B561B-7BC6-4A0B-B44E-2BA81160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60A5F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7F5B3-9EB1-41B4-B0DF-E979067D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Mobile/Web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57007-09BD-4C8C-B498-B8316373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866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Uses Firebase/Web Push SDK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gets registration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86287-F458-4258-B0C5-A2B2B18A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9D8F2-534D-4279-A4B7-F92AAF07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Register 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2DF77-4FAB-46CA-998A-49887038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1866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POST /api/users/{id}/devices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platform + pushToken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8769B-D8EF-4C44-A599-2D44A985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AF718-FEDF-4C90-A2EB-B8E61BE4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955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E-Pager 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2D1CA-5DC0-451C-9740-254BBA85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62200"/>
            <a:ext cx="1866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Stores active UserDevice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EF99F-9EBA-4640-B173-BA97C466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579BF-0476-4805-A717-CA632647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FCM 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FD594-D1E7-42F5-A185-7E149B5D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581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Sends real push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when enabled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3B6C4-A38B-4268-BCDE-C5F42CFA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860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27CB2-C1F2-48C8-B2DB-B42BAE27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47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604EE-1A6B-412F-B69B-15C13805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860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C4860-1C5F-4302-AB5E-D5B18BEA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47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D414D-15F0-432C-8F67-6F01C8CB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860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DB637-365A-47D3-AD0C-CD16EAD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47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FE630-C679-497C-8111-57B969B7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333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74DD2-DF84-4300-A511-425B7269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345376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Backend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7F203-09BD-4755-A01C-7960E8D7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3905250"/>
            <a:ext cx="354711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Still required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311623-29D9-4041-B845-1B7F7215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2438"/>
            <a:ext cx="2333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Firebase provider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AD201D-02EF-40F5-AC0E-4A06D6D0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62438"/>
            <a:ext cx="345376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Implemented behind EPAGER_FIREBASE_ENABLED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0B73B-1DEA-43CD-97CF-25748B82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4262438"/>
            <a:ext cx="354711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Firebase project and service-account 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BE61F4-D804-4CAE-B358-95B0D865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2333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Device token storage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AD4ACE-9608-4A8F-9AF8-F0A0F93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19625"/>
            <a:ext cx="345376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Implemented via user_devices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7C0751-1AA3-47BF-9D1D-EEA9737C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4619625"/>
            <a:ext cx="354711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Real mobile/web client to register token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5194C2-FDFE-4034-9386-518F8806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6813"/>
            <a:ext cx="2333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Notification open tracking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DD510B-5C85-4D85-9D36-8E18AA07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76813"/>
            <a:ext cx="345376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Implemented /received and /seen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2B77E6-4D24-4772-96DD-1A763CB8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4976813"/>
            <a:ext cx="354711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Client SDK must call these APIs</a:t>
            </a:r>
          </a:p>
        </p:txBody>
      </p:sp>
    </p:spTree>
    <p:extLst>
      <p:ext uri="{BB962C8B-B14F-4D97-AF65-F5344CB8AC3E}">
        <p14:creationId xmlns:p14="http://schemas.microsoft.com/office/powerpoint/2010/main" val="8450397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8608B46E-2FF3-4A96-89B1-F3F6BCE5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EFA0AADF-3AD8-4E60-B560-0FC67B42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CLIENT SDK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7E652-A146-4BC5-939D-3985730F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The SDK/app is not the pager backend; it is the user's notification receiver and tracker.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C2698-B3E5-4640-87E5-DA7E306F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06A70-805C-4D28-9E65-E434A09F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D77D6-ED49-4A92-B8C2-230E9C4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7170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Responsibility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C9DE0-E2D6-40F5-894E-2BF6BF2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381125"/>
            <a:ext cx="238887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Where it lives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FB5F3-825B-47B3-BF24-1D9E3AC7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1381125"/>
            <a:ext cx="32575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Positive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BE21A-5340-4F26-A57E-2FF5E3AA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1381125"/>
            <a:ext cx="304038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Negative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243C4-A1C9-4B1C-B84F-E536B44F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4063"/>
            <a:ext cx="217170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Login/session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E0EF9-3DF9-4D06-8414-AFCBE569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24063"/>
            <a:ext cx="238887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App/SDK + E-Pager auth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A845C-1A71-4B93-8FA2-643D9601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024063"/>
            <a:ext cx="32575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Stores access/refresh securely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94060-0931-4177-9125-4FF9EC3C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2024063"/>
            <a:ext cx="304038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Expired token -&gt; refresh; invalid refresh -&gt; login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5004C-6118-4C85-ABC4-227593C5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17170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Device registration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B0DED-A16C-421D-8B9D-02838042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67000"/>
            <a:ext cx="238887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App/SDK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1C088-83A5-4D93-A39F-0B31B40E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667000"/>
            <a:ext cx="32575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Gets FCM/Web Push token and registers device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08916-93D6-4779-ACBA-EA3E942C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2667000"/>
            <a:ext cx="304038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token -&gt; backend cannot send real push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01F49-D396-4F02-B2E2-32C202CC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9938"/>
            <a:ext cx="217170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Receive push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ECE51-2807-4BA3-BEDB-5D628272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09938"/>
            <a:ext cx="238887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OS/browser +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F4B3F-CF40-4B72-8F14-C4739ED6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3309938"/>
            <a:ext cx="32575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Displays notification with deep link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CF771-5A59-4178-9B39-85B98C7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3309938"/>
            <a:ext cx="304038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OS permission denied -&gt; user not alerted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89DD9-0696-4B89-ACCD-1E1356E6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217170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Delivery callback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99D6C-9AE1-440D-B304-221F3401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52875"/>
            <a:ext cx="238887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App/SDK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B3F49-FAEF-4BAE-AFC5-EC47D6D2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3952875"/>
            <a:ext cx="32575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Calls /received when push event arrives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E2283-289B-4382-BEF1-170D4DBC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3952875"/>
            <a:ext cx="304038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callback -&gt; backend only knows provider accepted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D7522-8EEB-4B29-9971-0645AA1F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5813"/>
            <a:ext cx="217170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Open callback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FF596-B988-4759-B211-308145B1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95813"/>
            <a:ext cx="238887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App/SDK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6723D-CC09-40E8-A717-43940A73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595813"/>
            <a:ext cx="32575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Calls /seen when user taps notification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23AA4D-7E20-4662-8135-B1F08432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4595813"/>
            <a:ext cx="304038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callback -&gt; cannot prove user opened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EA0CF-2532-4665-B135-B3FC8C7C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Answer to 'do we put SDK on every mobile?': yes, every client/device that must receive push needs app/SDK registration so E-Pager has a valid push token.</a:t>
            </a:r>
          </a:p>
        </p:txBody>
      </p:sp>
    </p:spTree>
    <p:extLst>
      <p:ext uri="{BB962C8B-B14F-4D97-AF65-F5344CB8AC3E}">
        <p14:creationId xmlns:p14="http://schemas.microsoft.com/office/powerpoint/2010/main" val="16333936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FE97BB39-2526-4A65-A4AD-55364869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1B4E93ED-A2BB-44AA-ACCB-A86C8894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CROSS-QUESTION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0E556-3183-405F-985E-12D63A26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Most review questions reduce to one of these positive/negative scenarios.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4D1FC-3D40-4B52-BCDA-5F8CCF4F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BC908-7268-4371-8EE7-00A0ECCA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3FFC4-2BD6-4DD2-A16D-2D2B630D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85875"/>
            <a:ext cx="168592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67E88-57A0-4C74-B1F0-AEDF7EDD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85875"/>
            <a:ext cx="314706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Positive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1DBB9-8BEF-4662-B5A0-118595C3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235" y="1285875"/>
            <a:ext cx="280987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Negative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53646-028B-43D1-92F4-21A354F1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1285875"/>
            <a:ext cx="359664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What we can say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8006D-0102-4312-8C03-A858E7E0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98196"/>
            <a:ext cx="168592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Source 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874FB-F1CA-452B-A52B-82631BA3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898196"/>
            <a:ext cx="314706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HMAC/gateway token valid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05EF0-D9A5-4970-9A5F-A42B64EE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235" y="1898196"/>
            <a:ext cx="280987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missing/stale/bad signature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CF245-FD6D-4517-8974-1CF9E723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1898196"/>
            <a:ext cx="359664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Rejected with 401; audit row stored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98683-4814-40F4-8B87-864E97A8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10518"/>
            <a:ext cx="168592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Payload format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8C040-C186-4769-A53C-03C5D24E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510518"/>
            <a:ext cx="314706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Adapter maps payload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B373C-0CE8-4625-9DE3-683D9000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235" y="2510518"/>
            <a:ext cx="280987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source unsupported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F7226-4023-4A5D-8DAA-5DFB3177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2510518"/>
            <a:ext cx="359664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404/400 behavior; core protected from raw vendor drift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23C61-807F-4F6F-834E-029BFA75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2839"/>
            <a:ext cx="168592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Incident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2DC34-4E90-425E-BDF6-775EC9BC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122839"/>
            <a:ext cx="314706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new or duplicate alert handled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26D82-DB5C-4CB4-8596-E06A6AFA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235" y="3122839"/>
            <a:ext cx="280987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unauthorized engineer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4CDC5-DA60-4EFC-9F01-26EE51CA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3122839"/>
            <a:ext cx="359664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idempotent create/update; 403 for unassigned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B43CA-C49C-4813-A117-A7FD692E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5161"/>
            <a:ext cx="168592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Escalation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416FD-7B9E-411D-900F-F50C5D42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735161"/>
            <a:ext cx="314706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ack before wait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55433-0708-4EB8-9EA2-F3925CC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235" y="3735161"/>
            <a:ext cx="280987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267E6-D92E-490C-A10A-F27CAD86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3735161"/>
            <a:ext cx="359664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stops on ACK/RESOLVED; otherwise scheduled job escalates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0BD2ED-2718-40B8-AB48-1863FF69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7482"/>
            <a:ext cx="168592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Notification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1DF63C-692D-4A96-8186-32A0E389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347482"/>
            <a:ext cx="314706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device exists/provider accepts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D00746-664F-44B4-9B59-210B6156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235" y="4347482"/>
            <a:ext cx="280987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 device/provider fails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3A20C-D826-44F5-A9FC-3CDD57D3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4347482"/>
            <a:ext cx="359664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SENT vs FAILED; delivery events show timeline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8EB48-1EEF-4C08-AF65-158883A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9804"/>
            <a:ext cx="168592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Auth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E263F5-2734-4FB9-B758-938BCFFB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959804"/>
            <a:ext cx="314706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valid JWT/role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A189D5-6DEF-402F-AFE5-77F2C42A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235" y="4959804"/>
            <a:ext cx="2809875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expired/reused/wrong role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F17866-0D2F-432D-A1C0-FE574BB8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4959804"/>
            <a:ext cx="3596640" cy="6123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401/403; refresh tokens rotate and revoke</a:t>
            </a:r>
          </a:p>
        </p:txBody>
      </p:sp>
    </p:spTree>
    <p:extLst>
      <p:ext uri="{BB962C8B-B14F-4D97-AF65-F5344CB8AC3E}">
        <p14:creationId xmlns:p14="http://schemas.microsoft.com/office/powerpoint/2010/main" val="10400222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08B9FA10-9C2F-4E0E-9D8A-C261549B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E28C857A-958D-4527-8B9B-3B596EC6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C5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2D3C5"/>
                </a:solidFill>
                <a:latin typeface="Segoe UI"/>
                <a:ea typeface="Segoe UI"/>
                <a:cs typeface="Segoe UI"/>
              </a:rPr>
              <a:t>PRODUCTION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0464A-B5B9-4266-80E4-5EBD18D0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The backend foundation works; production readiness is about reliability, clients, and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EF7E0-1EB3-4F3F-B186-20D53DCB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E-Pager technical deep dive | Source: project docs and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0B22C-EE76-4773-899E-7BA9BF99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53447-EA62-4377-B0CB-09267DAA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BABB0-DB35-432B-8BC3-EC12D744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88B95-227A-47F6-A467-93A99E34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Backend APIs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PostgreSQL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JWT/refresh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HMAC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testing simulator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8B631-2160-4D49-8634-A2569863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2D3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481D0-D6F0-4972-A1F0-259F19D2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6212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5A343-92C3-4A1A-B18B-584B18F8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28825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More HMAC tests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adapter tests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scheduler tests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FCM mocked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12559-F5CD-44F4-9BE0-1F7B811E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60A5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F0895-E5C0-4C7D-BAE0-55B66D6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Client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0B6B6-B2A4-4B01-B255-8F92ECFD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28825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Mobile/web SDK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device token registration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received/seen callbacks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DD122-DE57-4820-B215-C09CD84B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EA75F-0D59-4386-9B28-1A86D937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6212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629DA-11F8-4DE3-9EB3-AFF5B97A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28825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HTTPS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vault secrets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metrics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retry/outbox</a:t>
            </a:r>
          </a:p>
          <a:p xmlns:a="http://schemas.openxmlformats.org/drawingml/2006/main">
            <a:pPr algn="l">
              <a:defRPr sz="863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rate limiting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A01FB-6D18-48B7-BCFA-7B5F6E3E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812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E741D-80B0-44FB-8DDA-123E173A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43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0E0F52-1909-444D-A6D6-6C78E3DD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812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7F779-ABC5-47E9-9999-2171E8A5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43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161B9-6C69-4E83-80B3-7E37B1D0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812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40E45-B71F-40E7-9F99-3E12C75C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43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26364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90B94-250A-4C79-B994-0BDB1CB6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2800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Readiness item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F7E993-6F2C-4CCD-A0FF-BB72D63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714750"/>
            <a:ext cx="6534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AF2FF"/>
                </a:solidFill>
                <a:latin typeface="Segoe UI"/>
                <a:ea typeface="Segoe UI"/>
                <a:cs typeface="Segoe UI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94786-F479-4D69-99BB-96F44835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10025"/>
            <a:ext cx="2800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HTTPS + secret management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6D33E-00DB-4D1E-B98A-D880B51B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010025"/>
            <a:ext cx="6534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Protect tokens, HMAC secrets, Firebase credentials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3686E8-153E-4E88-BDF0-9A9A4D7F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05300"/>
            <a:ext cx="2800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Notification retry/outbox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09164E-8FB8-4BDD-9B20-6F44C900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305300"/>
            <a:ext cx="6534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Avoid losing alerts during provider/network failure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782249-58DF-4169-82C6-BBFC6844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00575"/>
            <a:ext cx="2800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Actuator/metrics/logs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2CB756-EAA4-4D43-B8DC-F9E7924C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600575"/>
            <a:ext cx="6534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Operate and troubleshoot live pager behavior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EC0A86-4FE3-4F81-A184-C68AF950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95850"/>
            <a:ext cx="2800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Mobile/web client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441AC8-000D-4684-805D-79182188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895850"/>
            <a:ext cx="6534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8"/>
          </a:solidFill>
          <a:ln xmlns:a="http://schemas.openxmlformats.org/drawingml/2006/main" w="9525">
            <a:solidFill>
              <a:srgbClr val="26364F"/>
            </a:solidFill>
          </a:ln>
        </p:spPr>
        <p:txBody>
          <a:bodyPr xmlns:a="http://schemas.openxmlformats.org/drawingml/2006/main" wrap="square" lIns="76200" tIns="76200" rIns="76200" bIns="571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7CB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A9B7CB"/>
                </a:solidFill>
                <a:latin typeface="Segoe UI"/>
                <a:ea typeface="Segoe UI"/>
                <a:cs typeface="Segoe UI"/>
              </a:rPr>
              <a:t>Real user push notification and delivery tracking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453DB0-9165-4EA4-AEAF-166C0ACF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C5"/>
          </a:solidFill>
          <a:ln xmlns:a="http://schemas.openxmlformats.org/drawingml/2006/main" w="0">
            <a:solidFill>
              <a:srgbClr val="26364F"/>
            </a:solidFill>
          </a:ln>
        </p:spPr>
        <p:txBody>
          <a:bodyPr xmlns:a="http://schemas.openxmlformats.org/drawingml/2006/main" wrap="square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2061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20617"/>
                </a:solidFill>
                <a:latin typeface="Segoe UI"/>
                <a:ea typeface="Segoe UI"/>
                <a:cs typeface="Segoe UI"/>
              </a:rPr>
              <a:t>Meeting close: E-Pager is vendor-independent by design; what remains is production hardening and real client rollout.</a:t>
            </a:r>
          </a:p>
        </p:txBody>
      </p:sp>
    </p:spTree>
    <p:extLst>
      <p:ext uri="{BB962C8B-B14F-4D97-AF65-F5344CB8AC3E}">
        <p14:creationId xmlns:p14="http://schemas.microsoft.com/office/powerpoint/2010/main" val="408145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2026-06-10T06:04:29.1310000Z</dcterms:created>
  <dcterms:modified xsi:type="dcterms:W3CDTF">2026-06-10T06:04:29.1310000Z</dcterms:modified>
</coreProperties>
</file>